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A83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IG NOBEL PRIZE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E8A890"/>
                </a:solidFill>
              </a:rPr>
              <a:t>"First make people LAUGH, then make them THINK"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1106424"/>
            <a:ext cx="3611880" cy="5705856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59936" y="1106424"/>
            <a:ext cx="3611880" cy="5705856"/>
          </a:xfrm>
          <a:prstGeom prst="rect">
            <a:avLst/>
          </a:prstGeom>
          <a:solidFill>
            <a:srgbClr val="FD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72984" y="1106424"/>
            <a:ext cx="3611880" cy="5705856"/>
          </a:xfrm>
          <a:prstGeom prst="rect">
            <a:avLst/>
          </a:prstGeom>
          <a:solidFill>
            <a:srgbClr val="E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106424"/>
            <a:ext cx="3611880" cy="36576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6" y="1106424"/>
            <a:ext cx="3611880" cy="365760"/>
          </a:xfrm>
          <a:prstGeom prst="rect">
            <a:avLst/>
          </a:prstGeom>
          <a:solidFill>
            <a:srgbClr val="A83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72984" y="1106424"/>
            <a:ext cx="3611880" cy="365760"/>
          </a:xfrm>
          <a:prstGeom prst="rect">
            <a:avLst/>
          </a:prstGeom>
          <a:solidFill>
            <a:srgbClr val="3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" y="1161288"/>
            <a:ext cx="33558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WHAT IS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161288"/>
            <a:ext cx="33558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CLASSIC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161288"/>
            <a:ext cx="33558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OUR PROBLEM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1591056"/>
            <a:ext cx="3355848" cy="52212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714"/>
                </a:solidFill>
              </a:rPr>
              <a:t>Annual prizes for genuine scientific achievements that are simultaneously funny AND real.</a:t>
            </a:r>
          </a:p>
          <a:p>
            <a:pPr algn="l"/>
            <a:r>
              <a:rPr sz="3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Real research, real journals, real scientists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Administered by the Annals of Improbable Research since 1991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Awarded at Harvard in an actual ceremony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Categories: Medicine, Physics, Chemistry, Biology, Peace, Economics…</a:t>
            </a:r>
          </a:p>
          <a:p>
            <a:pPr algn="l"/>
            <a:r>
              <a:rPr sz="3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A83B18"/>
                </a:solidFill>
              </a:rPr>
              <a:t>The humor comes FROM the scientific finding — not from how it is described.</a:t>
            </a:r>
          </a:p>
          <a:p>
            <a:pPr algn="l"/>
            <a:r>
              <a:rPr sz="3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1A1714"/>
                </a:solidFill>
              </a:rPr>
              <a:t>The laugh must arrive BEFORE the explanation does.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1591056"/>
            <a:ext cx="3355848" cy="52212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3B18"/>
                </a:solidFill>
              </a:rPr>
              <a:t>2000 Ig Nobel Prize in Physics</a:t>
            </a:r>
          </a:p>
          <a:p>
            <a:pPr algn="l"/>
            <a:r>
              <a:rPr sz="3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1A1714"/>
                </a:solidFill>
              </a:rPr>
              <a:t>“On the Possibility of a Frog to Be Levitated by a Magnet”</a:t>
            </a:r>
          </a:p>
          <a:p>
            <a:pPr algn="l"/>
            <a:r>
              <a:rPr sz="3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André Geim used high-field magnets to levitate a living frog against gravity.</a:t>
            </a:r>
          </a:p>
          <a:p>
            <a:pPr algn="l"/>
            <a:r>
              <a:rPr sz="3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3D6B4F"/>
                </a:solidFill>
              </a:rPr>
              <a:t>→  Geim later won the 2010 Nobel Prize in Physics (for graphene!)</a:t>
            </a:r>
          </a:p>
          <a:p>
            <a:pPr algn="l"/>
            <a:r>
              <a:rPr sz="4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1A1714"/>
                </a:solidFill>
              </a:rPr>
              <a:t>Other famous winners: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Slipping on banana peels (Physics, 2014)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Armadillos as leprosy transmitters (Medicine, 2012)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Why woodpeckers don’t get headaches (Medicine, 2006)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591056"/>
            <a:ext cx="3355848" cy="52212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714"/>
                </a:solidFill>
              </a:rPr>
              <a:t>Can a multi-agent AI pipeline autonomously generate and evaluate Ig Nobel-caliber research proposals?</a:t>
            </a:r>
          </a:p>
          <a:p>
            <a:pPr algn="l"/>
            <a:r>
              <a:rPr sz="3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3D6B4F"/>
                </a:solidFill>
              </a:rPr>
              <a:t>Challenges:</a:t>
            </a:r>
          </a:p>
          <a:p>
            <a:pPr algn="l"/>
            <a:r>
              <a:rPr sz="2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The “laugh then think” criterion is subtle — hard to encode in a prompt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Requires novelty + scientific plausibility + inherent absurdity simultaneously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Distinguishing genuinely funny from merely taboo, niche, or weird</a:t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•  Novelty detection requires real-time web search</a:t>
            </a:r>
          </a:p>
          <a:p>
            <a:pPr algn="l"/>
            <a:r>
              <a:rPr sz="3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3D6B4F"/>
                </a:solidFill>
              </a:rPr>
              <a:t>Our approach:</a:t>
            </a:r>
          </a:p>
          <a:p>
            <a:pPr algn="l"/>
            <a:r>
              <a:rPr sz="250" b="0" i="0">
                <a:solidFill>
                  <a:srgbClr val="1A1714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1A1714"/>
                </a:solidFill>
              </a:rPr>
              <a:t>4 specialised agents with distinct roles, web search for novelty checking, and iterative critique–revision loops.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2004"/>
          </a:xfrm>
          <a:prstGeom prst="rect">
            <a:avLst/>
          </a:prstGeom>
          <a:solidFill>
            <a:srgbClr val="A83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Our Multi-Agent Pipeline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268" y="685800"/>
            <a:ext cx="8061157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